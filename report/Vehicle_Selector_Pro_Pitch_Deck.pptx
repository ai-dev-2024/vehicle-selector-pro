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005840"/>
            <a:ext cx="54864" cy="3291840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234440"/>
            <a:ext cx="82296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PITCH DECK  ·  CLIENT PRESENTATION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1828800"/>
            <a:ext cx="10058400" cy="10972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4400" b="1">
                <a:solidFill>
                  <a:srgbClr val="282A2E"/>
                </a:solidFill>
                <a:latin typeface="Calibri"/>
              </a:rPr>
              <a:t>Vehicle Selector Pro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2880360"/>
            <a:ext cx="96012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900" b="0">
                <a:solidFill>
                  <a:srgbClr val="282A2E"/>
                </a:solidFill>
                <a:latin typeface="Calibri"/>
              </a:rPr>
              <a:t>A Production-Grade Shopify App for Vehicle Fitment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3840480"/>
            <a:ext cx="2926080" cy="54864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4114800"/>
            <a:ext cx="91440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100" b="0">
                <a:solidFill>
                  <a:srgbClr val="6E6E6E"/>
                </a:solidFill>
                <a:latin typeface="Calibri"/>
              </a:rPr>
              <a:t>CLIENT DELIVERABLE  ·  AUGUST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663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04B33"/>
                </a:solidFill>
                <a:latin typeface="Calibri"/>
              </a:rPr>
              <a:t>Live demo:  https://vehicle-selector-pro.fly.dev/demo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120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04B33"/>
                </a:solidFill>
                <a:latin typeface="Calibri"/>
              </a:rPr>
              <a:t>Merchant admin:  https://vehicle-selector-pro.fly.dev/demo/admin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577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04B33"/>
                </a:solidFill>
                <a:latin typeface="Calibri"/>
              </a:rPr>
              <a:t>Repository:  https://github.com/ai-dev-2024/vehicle-selector-pro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Aftermarket parts sell badly online — compatibility is the whole sale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10241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6E6E6E"/>
                </a:solidFill>
                <a:latin typeface="Calibri"/>
              </a:rPr>
              <a:t>A brake pad or wiper blade only fits an exact Year / Make / Model / Trim / Engine. Wrong-fit means wrong parts, angry customers, and costly returns — so fitment data becomes the product.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10241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600"/>
              </a:spcAft>
            </a:pPr>
            <a:r>
              <a:rPr sz="1200" b="1">
                <a:solidFill>
                  <a:srgbClr val="E04B33"/>
                </a:solidFill>
              </a:rPr>
              <a:t>▪  </a:t>
            </a:r>
            <a:r>
              <a:rPr sz="1200">
                <a:solidFill>
                  <a:srgbClr val="282A2E"/>
                </a:solidFill>
                <a:latin typeface="Calibri"/>
              </a:rPr>
              <a:t>Dense compatibility tables bury the answer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sz="1200" b="1">
                <a:solidFill>
                  <a:srgbClr val="E04B33"/>
                </a:solidFill>
              </a:rPr>
              <a:t>▪  </a:t>
            </a:r>
            <a:r>
              <a:rPr sz="1200">
                <a:solidFill>
                  <a:srgbClr val="282A2E"/>
                </a:solidFill>
                <a:latin typeface="Calibri"/>
              </a:rPr>
              <a:t>Per-product manual rules rot and cost hours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sz="1200" b="1">
                <a:solidFill>
                  <a:srgbClr val="E04B33"/>
                </a:solidFill>
              </a:rPr>
              <a:t>▪  </a:t>
            </a:r>
            <a:r>
              <a:rPr sz="1200">
                <a:solidFill>
                  <a:srgbClr val="282A2E"/>
                </a:solidFill>
                <a:latin typeface="Calibri"/>
              </a:rPr>
              <a:t>Paid fitment feeds lock merchants into contracts</a:t>
            </a:r>
          </a:p>
        </p:txBody>
      </p:sp>
      <p:pic>
        <p:nvPicPr>
          <p:cNvPr id="8" name="Picture 7" descr="04_storefront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657600"/>
            <a:ext cx="2217420" cy="1247298"/>
          </a:xfrm>
          <a:prstGeom prst="rect">
            <a:avLst/>
          </a:prstGeom>
        </p:spPr>
      </p:pic>
      <p:pic>
        <p:nvPicPr>
          <p:cNvPr id="9" name="Picture 8" descr="01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1860" y="3657600"/>
            <a:ext cx="2217420" cy="12472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THE SOLUTION · ONE DATASET, SYNCED EVERYWHERE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A real, browsable demo catalog already in production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651760"/>
            <a:ext cx="2354579" cy="219456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E04B33"/>
                </a:solidFill>
                <a:latin typeface="Calibri"/>
              </a:rPr>
              <a:t>48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206240"/>
            <a:ext cx="2354579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300" b="0">
                <a:solidFill>
                  <a:srgbClr val="282A2E"/>
                </a:solidFill>
                <a:latin typeface="Calibri"/>
              </a:rPr>
              <a:t>YMMTE configurations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3543299" y="2651760"/>
            <a:ext cx="2354579" cy="219456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E04B33"/>
                </a:solidFill>
                <a:latin typeface="Calibri"/>
              </a:rPr>
              <a:t>204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3299" y="4206240"/>
            <a:ext cx="2354579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300" b="0">
                <a:solidFill>
                  <a:srgbClr val="282A2E"/>
                </a:solidFill>
                <a:latin typeface="Calibri"/>
              </a:rPr>
              <a:t>verified fitments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199" y="2651760"/>
            <a:ext cx="2354579" cy="219456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E04B33"/>
                </a:solidFill>
                <a:latin typeface="Calibri"/>
              </a:rPr>
              <a:t>40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199" y="4206240"/>
            <a:ext cx="2354579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300" b="0">
                <a:solidFill>
                  <a:srgbClr val="282A2E"/>
                </a:solidFill>
                <a:latin typeface="Calibri"/>
              </a:rPr>
              <a:t>mapped products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01099" y="2651760"/>
            <a:ext cx="2354579" cy="219456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E04B33"/>
                </a:solidFill>
                <a:latin typeface="Calibri"/>
              </a:rPr>
              <a:t>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01099" y="4206240"/>
            <a:ext cx="2354579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300" b="0">
                <a:solidFill>
                  <a:srgbClr val="282A2E"/>
                </a:solidFill>
                <a:latin typeface="Calibri"/>
              </a:rPr>
              <a:t>brands represented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57784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6E6E6E"/>
                </a:solidFill>
                <a:latin typeface="Calibri"/>
              </a:rPr>
              <a:t>Fitments entered once into a normalized cache, pushed to Shopify metafields, and served to shoppers behind an HMAC-signed App Proxy — Guaranteed Exact / Does-NOT-Fit / Universal badges on every product page.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A cascading fitment engine, engineered for production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3108960"/>
            <a:ext cx="1371600" cy="13716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82A2E"/>
                </a:solidFill>
                <a:latin typeface="Calibri"/>
              </a:rPr>
              <a:t>Storefront</a:t>
            </a:r>
          </a:p>
        </p:txBody>
      </p:sp>
      <p:sp>
        <p:nvSpPr>
          <p:cNvPr id="7" name="Rectangle 6"/>
          <p:cNvSpPr/>
          <p:nvPr/>
        </p:nvSpPr>
        <p:spPr>
          <a:xfrm>
            <a:off x="2093976" y="3108960"/>
            <a:ext cx="1371600" cy="13716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82A2E"/>
                </a:solidFill>
                <a:latin typeface="Calibri"/>
              </a:rPr>
              <a:t>App Proxy</a:t>
            </a:r>
          </a:p>
        </p:txBody>
      </p:sp>
      <p:sp>
        <p:nvSpPr>
          <p:cNvPr id="8" name="Rectangle 7"/>
          <p:cNvSpPr/>
          <p:nvPr/>
        </p:nvSpPr>
        <p:spPr>
          <a:xfrm>
            <a:off x="3959352" y="3108960"/>
            <a:ext cx="1371600" cy="13716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82A2E"/>
                </a:solidFill>
                <a:latin typeface="Calibri"/>
              </a:rPr>
              <a:t>Controllers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24728" y="3108960"/>
            <a:ext cx="1371600" cy="13716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82A2E"/>
                </a:solidFill>
                <a:latin typeface="Calibri"/>
              </a:rPr>
              <a:t>Sidekiq/Redis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90104" y="3108960"/>
            <a:ext cx="1371600" cy="13716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82A2E"/>
                </a:solidFill>
                <a:latin typeface="Calibri"/>
              </a:rPr>
              <a:t>PostgreSQL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555480" y="3108960"/>
            <a:ext cx="1371600" cy="13716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82A2E"/>
                </a:solidFill>
                <a:latin typeface="Calibri"/>
              </a:rPr>
              <a:t>GraphQL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937760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300" b="0">
                <a:solidFill>
                  <a:srgbClr val="6E6E6E"/>
                </a:solidFill>
                <a:latin typeface="Calibri"/>
              </a:rPr>
              <a:t>Zero ScriptTag API — pure Theme App Extension, signed App Proxy, safe webhooks.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READY WHEN YOU 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See it live — watch it run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560320"/>
            <a:ext cx="365760" cy="365760"/>
          </a:xfrm>
          <a:prstGeom prst="rect">
            <a:avLst/>
          </a:prstGeom>
          <a:solidFill>
            <a:srgbClr val="E04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›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2514600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600" b="1">
                <a:solidFill>
                  <a:srgbClr val="282A2E"/>
                </a:solidFill>
                <a:latin typeface="Calibri"/>
              </a:rPr>
              <a:t>Try the live storefront demo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291839"/>
            <a:ext cx="365760" cy="365760"/>
          </a:xfrm>
          <a:prstGeom prst="rect">
            <a:avLst/>
          </a:prstGeom>
          <a:solidFill>
            <a:srgbClr val="E04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›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3246120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600" b="1">
                <a:solidFill>
                  <a:srgbClr val="282A2E"/>
                </a:solidFill>
                <a:latin typeface="Calibri"/>
              </a:rPr>
              <a:t>Explore the merchant admin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023359"/>
            <a:ext cx="365760" cy="365760"/>
          </a:xfrm>
          <a:prstGeom prst="rect">
            <a:avLst/>
          </a:prstGeom>
          <a:solidFill>
            <a:srgbClr val="E04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977639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600" b="1">
                <a:solidFill>
                  <a:srgbClr val="282A2E"/>
                </a:solidFill>
                <a:latin typeface="Calibri"/>
              </a:rPr>
              <a:t>Open the repository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754879"/>
            <a:ext cx="365760" cy="365760"/>
          </a:xfrm>
          <a:prstGeom prst="rect">
            <a:avLst/>
          </a:prstGeom>
          <a:solidFill>
            <a:srgbClr val="E04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4709159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600" b="1">
                <a:solidFill>
                  <a:srgbClr val="282A2E"/>
                </a:solidFill>
                <a:latin typeface="Calibri"/>
              </a:rPr>
              <a:t>Watch the three narrated walkthroughs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669279"/>
            <a:ext cx="10058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0">
                <a:solidFill>
                  <a:srgbClr val="6E6E6E"/>
                </a:solidFill>
                <a:latin typeface="Calibri"/>
              </a:rPr>
              <a:t>Both the live storefront and merchant admin are running right now.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
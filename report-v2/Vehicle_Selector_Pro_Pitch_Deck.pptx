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ehicle-selector-pro.fly.dev/demo" TargetMode="External"/><Relationship Id="rId3" Type="http://schemas.openxmlformats.org/officeDocument/2006/relationships/hyperlink" Target="https://vehicle-selector-pro.fly.dev/demo/admin" TargetMode="External"/><Relationship Id="rId4" Type="http://schemas.openxmlformats.org/officeDocument/2006/relationships/hyperlink" Target="https://github.com/ai-dev-2024/vehicle-selector-pro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ehicle-selector-pro.fly.dev/demo" TargetMode="External"/><Relationship Id="rId3" Type="http://schemas.openxmlformats.org/officeDocument/2006/relationships/hyperlink" Target="https://vehicle-selector-pro.fly.dev/demo/admin" TargetMode="External"/><Relationship Id="rId4" Type="http://schemas.openxmlformats.org/officeDocument/2006/relationships/hyperlink" Target="https://github.com/ai-dev-2024/vehicle-selector-pro" TargetMode="External"/><Relationship Id="rId5" Type="http://schemas.openxmlformats.org/officeDocument/2006/relationships/hyperlink" Target="https://ai-dev-2024.github.io/vehicle-selector-pro/demo/video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05840"/>
            <a:ext cx="54864" cy="3291840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234440"/>
            <a:ext cx="82296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PITCH DECK  ·  CLIENT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4400" b="1">
                <a:solidFill>
                  <a:srgbClr val="282A2E"/>
                </a:solidFill>
                <a:latin typeface="Calibri"/>
              </a:rPr>
              <a:t>Vehicle Selector 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880360"/>
            <a:ext cx="960120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900" b="0">
                <a:solidFill>
                  <a:srgbClr val="282A2E"/>
                </a:solidFill>
                <a:latin typeface="Calibri"/>
              </a:rPr>
              <a:t>A Production-Grade Shopify App for Vehicle Fitment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3840480"/>
            <a:ext cx="2926080" cy="54864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114800"/>
            <a:ext cx="91440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100" b="0">
                <a:solidFill>
                  <a:srgbClr val="6E6E6E"/>
                </a:solidFill>
                <a:latin typeface="Calibri"/>
              </a:rPr>
              <a:t>CLIENT DELIVERABLE  · 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2A2E"/>
                </a:solidFill>
                <a:latin typeface="Calibri"/>
              </a:rPr>
              <a:t>Live demo:  </a:t>
            </a:r>
            <a:r>
              <a:rPr sz="1300" u="sng">
                <a:solidFill>
                  <a:srgbClr val="E04B33"/>
                </a:solidFill>
                <a:latin typeface="Calibri"/>
                <a:hlinkClick r:id="rId2"/>
              </a:rPr>
              <a:t>https://vehicle-selector-pro.fly.dev/demo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2A2E"/>
                </a:solidFill>
                <a:latin typeface="Calibri"/>
              </a:rPr>
              <a:t>Merchant admin:  </a:t>
            </a:r>
            <a:r>
              <a:rPr sz="1300" u="sng">
                <a:solidFill>
                  <a:srgbClr val="E04B33"/>
                </a:solidFill>
                <a:latin typeface="Calibri"/>
                <a:hlinkClick r:id="rId3"/>
              </a:rPr>
              <a:t>https://vehicle-selector-pro.fly.dev/demo/admin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82A2E"/>
                </a:solidFill>
                <a:latin typeface="Calibri"/>
              </a:rPr>
              <a:t>Repository:  </a:t>
            </a:r>
            <a:r>
              <a:rPr sz="1300" u="sng">
                <a:solidFill>
                  <a:srgbClr val="E04B33"/>
                </a:solidFill>
                <a:latin typeface="Calibri"/>
                <a:hlinkClick r:id="rId4"/>
              </a:rPr>
              <a:t>https://github.com/ai-dev-2024/vehicle-selector-pro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Aftermarket parts sell badly online — compatibility is the whole sale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E6E6E"/>
                </a:solidFill>
                <a:latin typeface="Calibri"/>
              </a:rPr>
              <a:t>A brake pad or wiper blade only fits an exact Year / Make / Model / Trim / Engine. Wrong-fit means wrong parts, angry customers, and costly returns — so fitment data becomes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1">
                <a:solidFill>
                  <a:srgbClr val="E04B33"/>
                </a:solidFill>
              </a:rPr>
              <a:t>▪  </a:t>
            </a:r>
            <a:r>
              <a:rPr sz="1200">
                <a:solidFill>
                  <a:srgbClr val="282A2E"/>
                </a:solidFill>
                <a:latin typeface="Calibri"/>
              </a:rPr>
              <a:t>Dense compatibility tables bury the answer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1">
                <a:solidFill>
                  <a:srgbClr val="E04B33"/>
                </a:solidFill>
              </a:rPr>
              <a:t>▪  </a:t>
            </a:r>
            <a:r>
              <a:rPr sz="1200">
                <a:solidFill>
                  <a:srgbClr val="282A2E"/>
                </a:solidFill>
                <a:latin typeface="Calibri"/>
              </a:rPr>
              <a:t>Per-product manual rules rot and cost hours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1">
                <a:solidFill>
                  <a:srgbClr val="E04B33"/>
                </a:solidFill>
              </a:rPr>
              <a:t>▪  </a:t>
            </a:r>
            <a:r>
              <a:rPr sz="1200">
                <a:solidFill>
                  <a:srgbClr val="282A2E"/>
                </a:solidFill>
                <a:latin typeface="Calibri"/>
              </a:rPr>
              <a:t>Paid fitment feeds lock merchants into contracts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b="1">
                <a:solidFill>
                  <a:srgbClr val="E04B33"/>
                </a:solidFill>
              </a:rPr>
              <a:t>▪  </a:t>
            </a:r>
            <a:r>
              <a:rPr sz="1200">
                <a:solidFill>
                  <a:srgbClr val="282A2E"/>
                </a:solidFill>
                <a:latin typeface="Calibri"/>
              </a:rPr>
              <a:t>Built end-to-end with free AI tooling on a 2018 ASUS ZenBook — proof of the headroom ahead</a:t>
            </a:r>
          </a:p>
        </p:txBody>
      </p:sp>
      <p:pic>
        <p:nvPicPr>
          <p:cNvPr id="8" name="Picture 7" descr="04_storefron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2217420" cy="1247298"/>
          </a:xfrm>
          <a:prstGeom prst="rect">
            <a:avLst/>
          </a:prstGeom>
        </p:spPr>
      </p:pic>
      <p:pic>
        <p:nvPicPr>
          <p:cNvPr id="9" name="Picture 8" descr="01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860" y="3657600"/>
            <a:ext cx="2217420" cy="12472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THE SOLUTION · ONE DATASET, SYNCED EVERYWHERE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A real, browsable demo catalog already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48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YMMTE configurations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3299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402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3299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verified fitments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199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74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199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mapped products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01099" y="2651760"/>
            <a:ext cx="2354579" cy="219456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400" b="1">
                <a:solidFill>
                  <a:srgbClr val="E04B33"/>
                </a:solidFill>
                <a:latin typeface="Calibri"/>
              </a:rPr>
              <a:t>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01099" y="4206240"/>
            <a:ext cx="2354579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0">
                <a:solidFill>
                  <a:srgbClr val="282A2E"/>
                </a:solidFill>
                <a:latin typeface="Calibri"/>
              </a:rPr>
              <a:t>brands represented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778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E6E6E"/>
                </a:solidFill>
                <a:latin typeface="Calibri"/>
              </a:rPr>
              <a:t>Fitments entered once into a normalized cache, pushed to Shopify metafields, and served to shoppers behind an HMAC-signed App Proxy — Guaranteed Exact / Does-NOT-Fit / Universal badges on every product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A cascading fitment engine, engineered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Storefront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93976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App Proxy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9352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Controllers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4728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Sidekiq/Redis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90104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55480" y="3108960"/>
            <a:ext cx="1371600" cy="1371600"/>
          </a:xfrm>
          <a:prstGeom prst="rect">
            <a:avLst/>
          </a:prstGeom>
          <a:solidFill>
            <a:srgbClr val="FBEEE9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82A2E"/>
                </a:solidFill>
                <a:latin typeface="Calibri"/>
              </a:rPr>
              <a:t>GraphQL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300" b="0">
                <a:solidFill>
                  <a:srgbClr val="6E6E6E"/>
                </a:solidFill>
                <a:latin typeface="Calibri"/>
              </a:rPr>
              <a:t>Zero ScriptTag API — pure Theme App Extension, signed App Proxy, safe webhooks.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1">
                <a:solidFill>
                  <a:srgbClr val="E04B33"/>
                </a:solidFill>
                <a:latin typeface="Calibri"/>
              </a:rPr>
              <a:t>READY WHEN YOU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2800" b="1">
                <a:solidFill>
                  <a:srgbClr val="282A2E"/>
                </a:solidFill>
                <a:latin typeface="Calibri"/>
              </a:rPr>
              <a:t>See it live — watch it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27432"/>
          </a:xfrm>
          <a:prstGeom prst="rect">
            <a:avLst/>
          </a:prstGeom>
          <a:solidFill>
            <a:srgbClr val="E04B33"/>
          </a:solidFill>
          <a:ln>
            <a:solidFill>
              <a:srgbClr val="E04B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400" b="0">
                <a:solidFill>
                  <a:srgbClr val="282A2E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60320"/>
            <a:ext cx="365760" cy="365760"/>
          </a:xfrm>
          <a:prstGeom prst="rect">
            <a:avLst/>
          </a:prstGeom>
          <a:solidFill>
            <a:srgbClr val="E04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1460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1">
                <a:solidFill>
                  <a:srgbClr val="282A2E"/>
                </a:solidFill>
                <a:latin typeface="Calibri"/>
                <a:hlinkClick r:id="rId2"/>
              </a:rPr>
              <a:t>Try the live storefront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39"/>
            <a:ext cx="365760" cy="365760"/>
          </a:xfrm>
          <a:prstGeom prst="rect">
            <a:avLst/>
          </a:prstGeom>
          <a:solidFill>
            <a:srgbClr val="E04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4612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1">
                <a:solidFill>
                  <a:srgbClr val="282A2E"/>
                </a:solidFill>
                <a:latin typeface="Calibri"/>
                <a:hlinkClick r:id="rId3"/>
              </a:rPr>
              <a:t>Explore the merchant 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023359"/>
            <a:ext cx="365760" cy="365760"/>
          </a:xfrm>
          <a:prstGeom prst="rect">
            <a:avLst/>
          </a:prstGeom>
          <a:solidFill>
            <a:srgbClr val="E04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977639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1">
                <a:solidFill>
                  <a:srgbClr val="282A2E"/>
                </a:solidFill>
                <a:latin typeface="Calibri"/>
                <a:hlinkClick r:id="rId4"/>
              </a:rPr>
              <a:t>Open the repository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54879"/>
            <a:ext cx="365760" cy="365760"/>
          </a:xfrm>
          <a:prstGeom prst="rect">
            <a:avLst/>
          </a:prstGeom>
          <a:solidFill>
            <a:srgbClr val="E04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709159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600" b="1">
                <a:solidFill>
                  <a:srgbClr val="282A2E"/>
                </a:solidFill>
                <a:latin typeface="Calibri"/>
                <a:hlinkClick r:id="rId5"/>
              </a:rPr>
              <a:t>Watch the two narrated walkthroughs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669279"/>
            <a:ext cx="100584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/>
            <a:r>
              <a:rPr sz="1200" b="0">
                <a:solidFill>
                  <a:srgbClr val="6E6E6E"/>
                </a:solidFill>
                <a:latin typeface="Calibri"/>
              </a:rPr>
              <a:t>Both the live storefront and merchant admin are running right now.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